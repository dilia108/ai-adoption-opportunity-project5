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1" r:id="rId2"/>
    <p:sldId id="257" r:id="rId3"/>
    <p:sldId id="258" r:id="rId4"/>
    <p:sldId id="262" r:id="rId5"/>
    <p:sldId id="263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0363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51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01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5D8E1D6-7A85-133A-0BDB-B55070544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08" y="38100"/>
            <a:ext cx="9048541" cy="508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1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D8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590" y="706121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8C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548640"/>
            <a:ext cx="8503920" cy="0"/>
          </a:xfrm>
          <a:prstGeom prst="line">
            <a:avLst/>
          </a:prstGeom>
          <a:noFill/>
          <a:ln w="6350">
            <a:solidFill>
              <a:srgbClr val="AABF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59436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shown so far has </a:t>
            </a:r>
            <a:r>
              <a:rPr lang="en-US" sz="52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to do</a:t>
            </a:r>
            <a:r>
              <a:rPr lang="en-US" sz="5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with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current operational reality.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3474720"/>
            <a:ext cx="8503920" cy="0"/>
          </a:xfrm>
          <a:prstGeom prst="line">
            <a:avLst/>
          </a:prstGeom>
          <a:noFill/>
          <a:ln w="6350">
            <a:solidFill>
              <a:srgbClr val="AABF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66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 me show you what changes.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Four-Stage AI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Rules  ·  Human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4F6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36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7D8B3F"/>
          </a:solidFill>
          <a:ln w="12700">
            <a:solidFill>
              <a:srgbClr val="7D8B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790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944368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email, FTP, API &amp; manual uploads. Classifies each document — invoice, B/L, declaration, packing list — before any extraction begins.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/ Vision Transformer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14016" y="3017520"/>
            <a:ext cx="109728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37160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F4F6EE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536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97480" y="187452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7D8B3F"/>
          </a:solidFill>
          <a:ln w="12700">
            <a:solidFill>
              <a:srgbClr val="7D8B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8790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7480" y="2240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697480" y="2944368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converts scans to text. NLP extracts structured field values across all document types in EN, DE, FR and corridor languages.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97480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NLP models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17136" y="3017520"/>
            <a:ext cx="109728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37160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EEF2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536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A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187452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5A7AB8"/>
          </a:solidFill>
          <a:ln w="12700">
            <a:solidFill>
              <a:srgbClr val="5A7A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8790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+ AI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00600" y="2240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800600" y="2944368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gets a confidence score: Green (auto-approved) · Orange (review flagged) · Red (manual entry). Cross-validation checks values, weights, HS codes and document completeness.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5A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routing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620256" y="3017520"/>
            <a:ext cx="109728" cy="0"/>
          </a:xfrm>
          <a:prstGeom prst="line">
            <a:avLst/>
          </a:prstGeom>
          <a:noFill/>
          <a:ln w="15240">
            <a:solidFill>
              <a:srgbClr val="BBBB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1371600"/>
            <a:ext cx="1920240" cy="3291840"/>
          </a:xfrm>
          <a:prstGeom prst="roundRect">
            <a:avLst>
              <a:gd name="adj" fmla="val 3810"/>
            </a:avLst>
          </a:prstGeom>
          <a:solidFill>
            <a:srgbClr val="EEF1F7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1536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187452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187909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03720" y="2240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903720" y="2944368"/>
            <a:ext cx="1645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declarant reviews all Orange &amp; Red fields with AI suggestion alongside source document. Legal submission under EU Union Customs Code. Corrections feed back to retrain the model.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03720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UCC compliant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16–18 months to full deployment · 40% conservative adjustment applied to all benchmarks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7D8B3F"/>
          </a:solidFill>
          <a:ln w="12700">
            <a:solidFill>
              <a:srgbClr val="7D8B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Discovery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interviews, doc audit, vendor shortlist, go/no-go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92224" y="1645920"/>
            <a:ext cx="914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2808" y="132588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6B8A3A"/>
          </a:solidFill>
          <a:ln w="12700">
            <a:solidFill>
              <a:srgbClr val="6B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1325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Data Prep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92808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5–8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38528" y="233172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samples, GDPR/POPIA review, TMS field mapping, DPA signed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27832" y="1645920"/>
            <a:ext cx="914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132588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5A7AB8"/>
          </a:solidFill>
          <a:ln w="12700">
            <a:solidFill>
              <a:srgbClr val="5A7A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325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28416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A7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9–18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74136" y="233172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build, extraction test, validation incl. degraded docs &amp; multi-regime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1645920"/>
            <a:ext cx="914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64024" y="132588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0D2B52"/>
          </a:solidFill>
          <a:ln w="12700">
            <a:solidFill>
              <a:srgbClr val="0D2B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325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Pilot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64024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19–34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9744" y="233172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Germany–South Africa live corridor, parallel run, go-live Wk 23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99048" y="1645920"/>
            <a:ext cx="914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32588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2C4A7A"/>
          </a:solidFill>
          <a:ln w="12700">
            <a:solidFill>
              <a:srgbClr val="2C4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325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Rollout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99632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8–16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45352" y="233172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Canada/USA → France → African corridors. 3–4 wks per corridor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534656" y="1645920"/>
            <a:ext cx="9144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32588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3258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Monitor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635240" y="20208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4+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80960" y="2331720"/>
            <a:ext cx="1234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KPIs, quarterly accuracy audits, Opportunity 2 readiness Mth 12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832104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8404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096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892808" y="4096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 signed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892808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28416" y="4096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sign-off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28416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64024" y="4096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go-live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764024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99632" y="4096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ROI data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99632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35240" y="40965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635240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Costs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 · 30% contingency included · actual costs confirmed in Phase 1 vendor assessment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321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5760720" cy="34747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Component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0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57607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/ SaaS licence (annual)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1645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€18,000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€60,000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5760720" cy="347472"/>
          </a:xfrm>
          <a:prstGeom prst="rect">
            <a:avLst/>
          </a:prstGeom>
          <a:solidFill>
            <a:srgbClr val="FAFAF8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933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integration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€15,000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9933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€45,000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40864"/>
            <a:ext cx="57607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408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staff time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23408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€38,200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23408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€68,200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688336"/>
            <a:ext cx="5760720" cy="347472"/>
          </a:xfrm>
          <a:prstGeom prst="rect">
            <a:avLst/>
          </a:prstGeom>
          <a:solidFill>
            <a:srgbClr val="FAFAF8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883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change management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0" y="26883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26883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€8,000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576072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358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DPA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30358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€2,000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30358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€6,000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5760720" cy="347472"/>
          </a:xfrm>
          <a:prstGeom prst="rect">
            <a:avLst/>
          </a:prstGeom>
          <a:solidFill>
            <a:srgbClr val="FAFAF8"/>
          </a:solidFill>
          <a:ln w="508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(30%)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0" y="3383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€22,000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3832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€57,000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730752"/>
            <a:ext cx="5760720" cy="347472"/>
          </a:xfrm>
          <a:prstGeom prst="rect">
            <a:avLst/>
          </a:prstGeom>
          <a:solidFill>
            <a:srgbClr val="EEF2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7307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Year 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0" y="37307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€95,200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37760" y="37307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€239,200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1298448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EF2E8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13716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73368" y="15910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€95k – €115k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73368" y="18105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API, single vendor SaaS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63640" y="2212848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E8EE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73368" y="22860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73368" y="25054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€145k – €175k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73368" y="2724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integration, full legal review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63640" y="3127248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F5EEEE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3368" y="3200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Complexity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73368" y="34198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€195k – €240k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73368" y="3639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TMS build, scanning infra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263640" y="4114800"/>
            <a:ext cx="2423160" cy="777240"/>
          </a:xfrm>
          <a:prstGeom prst="roundRect">
            <a:avLst>
              <a:gd name="adj" fmla="val 8235"/>
            </a:avLst>
          </a:prstGeom>
          <a:solidFill>
            <a:srgbClr val="F4F6EE"/>
          </a:solidFill>
          <a:ln w="6350">
            <a:solidFill>
              <a:srgbClr val="CCCC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73368" y="4160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Year 2+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73368" y="43616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D8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€20k – €65k / year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73368" y="45720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licence + maintenance only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26480" y="1188720"/>
            <a:ext cx="0" cy="374904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A8F35E68-0FA2-71DC-EECC-5D0B31638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35788"/>
            <a:ext cx="9042400" cy="507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60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Microsoft Office PowerPoint</Application>
  <PresentationFormat>On-screen Show (16:9)</PresentationFormat>
  <Paragraphs>108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Dilia Navarro</cp:lastModifiedBy>
  <cp:revision>2</cp:revision>
  <dcterms:created xsi:type="dcterms:W3CDTF">2026-06-11T12:55:24Z</dcterms:created>
  <dcterms:modified xsi:type="dcterms:W3CDTF">2026-06-11T14:04:17Z</dcterms:modified>
</cp:coreProperties>
</file>